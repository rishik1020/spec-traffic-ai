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24"/>
    <p:sldId id="271" r:id="rId25"/>
    <p:sldId id="272" r:id="rId26"/>
    <p:sldId id="258" r:id="rId4"/>
    <p:sldId id="259" r:id="rId5"/>
    <p:sldId id="260" r:id="rId6"/>
    <p:sldId id="266" r:id="rId7"/>
    <p:sldId id="267" r:id="rId8"/>
    <p:sldId id="268" r:id="rId9"/>
    <p:sldId id="261" r:id="rId10"/>
    <p:sldId id="269" r:id="rId11"/>
    <p:sldId id="262" r:id="rId12"/>
    <p:sldId id="273" r:id="rId27"/>
    <p:sldId id="274" r:id="rId28"/>
    <p:sldId id="263" r:id="rId13"/>
    <p:sldId id="264" r:id="rId14"/>
    <p:sldId id="275" r:id="rId29"/>
    <p:sldId id="265" r:id="rId15"/>
  </p:sldIdLst>
  <p:sldSz cx="18288000" cy="10287000"/>
  <p:notesSz cx="6858000" cy="9144000"/>
  <p:embeddedFontLst>
    <p:embeddedFont>
      <p:font typeface="Brice BoldCondensed" panose="020B0604020202020204" charset="0"/>
      <p:regular r:id="rId16"/>
    </p:embeddedFont>
    <p:embeddedFont>
      <p:font typeface="Ruda Bold" panose="020B0604020202020204" charset="0"/>
      <p:regular r:id="rId17"/>
    </p:embeddedFont>
    <p:embeddedFont>
      <p:font typeface="Sergio Trendy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0C7F9-BE74-F642-8D3D-98B4A820A02E}" v="260" dt="2026-08-26T14:39:30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  <Relationship Id="rId24" Type="http://schemas.openxmlformats.org/officeDocument/2006/relationships/slide" Target="slides/slide15.xml"/>
  <Relationship Id="rId25" Type="http://schemas.openxmlformats.org/officeDocument/2006/relationships/slide" Target="slides/slide16.xml"/>
  <Relationship Id="rId26" Type="http://schemas.openxmlformats.org/officeDocument/2006/relationships/slide" Target="slides/slide17.xml"/>
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9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0.sv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pec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01815" y="-43695"/>
            <a:ext cx="10374390" cy="10374390"/>
          </a:xfrm>
          <a:custGeom>
            <a:avLst/>
            <a:gdLst/>
            <a:ahLst/>
            <a:cxnLst/>
            <a:rect l="l" t="t" r="r" b="b"/>
            <a:pathLst>
              <a:path w="10374390" h="10374390">
                <a:moveTo>
                  <a:pt x="0" y="0"/>
                </a:moveTo>
                <a:lnTo>
                  <a:pt x="10374390" y="0"/>
                </a:lnTo>
                <a:lnTo>
                  <a:pt x="10374390" y="10374390"/>
                </a:lnTo>
                <a:lnTo>
                  <a:pt x="0" y="1037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72575" y="-43695"/>
            <a:ext cx="10374390" cy="10374390"/>
          </a:xfrm>
          <a:custGeom>
            <a:avLst/>
            <a:gdLst/>
            <a:ahLst/>
            <a:cxnLst/>
            <a:rect l="l" t="t" r="r" b="b"/>
            <a:pathLst>
              <a:path w="10374390" h="10374390">
                <a:moveTo>
                  <a:pt x="0" y="0"/>
                </a:moveTo>
                <a:lnTo>
                  <a:pt x="10374390" y="0"/>
                </a:lnTo>
                <a:lnTo>
                  <a:pt x="10374390" y="10374390"/>
                </a:lnTo>
                <a:lnTo>
                  <a:pt x="0" y="1037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307048" y="3289900"/>
            <a:ext cx="10994171" cy="3560504"/>
            <a:chOff x="0" y="0"/>
            <a:chExt cx="2895584" cy="9377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95584" cy="937746"/>
            </a:xfrm>
            <a:custGeom>
              <a:avLst/>
              <a:gdLst/>
              <a:ahLst/>
              <a:cxnLst/>
              <a:rect l="l" t="t" r="r" b="b"/>
              <a:pathLst>
                <a:path w="2895584" h="937746">
                  <a:moveTo>
                    <a:pt x="35913" y="0"/>
                  </a:moveTo>
                  <a:lnTo>
                    <a:pt x="2859671" y="0"/>
                  </a:lnTo>
                  <a:cubicBezTo>
                    <a:pt x="2869196" y="0"/>
                    <a:pt x="2878331" y="3784"/>
                    <a:pt x="2885066" y="10519"/>
                  </a:cubicBezTo>
                  <a:cubicBezTo>
                    <a:pt x="2891801" y="17254"/>
                    <a:pt x="2895584" y="26389"/>
                    <a:pt x="2895584" y="35913"/>
                  </a:cubicBezTo>
                  <a:lnTo>
                    <a:pt x="2895584" y="901832"/>
                  </a:lnTo>
                  <a:cubicBezTo>
                    <a:pt x="2895584" y="911357"/>
                    <a:pt x="2891801" y="920492"/>
                    <a:pt x="2885066" y="927227"/>
                  </a:cubicBezTo>
                  <a:cubicBezTo>
                    <a:pt x="2878331" y="933962"/>
                    <a:pt x="2869196" y="937746"/>
                    <a:pt x="2859671" y="937746"/>
                  </a:cubicBezTo>
                  <a:lnTo>
                    <a:pt x="35913" y="937746"/>
                  </a:lnTo>
                  <a:cubicBezTo>
                    <a:pt x="16079" y="937746"/>
                    <a:pt x="0" y="921667"/>
                    <a:pt x="0" y="901832"/>
                  </a:cubicBezTo>
                  <a:lnTo>
                    <a:pt x="0" y="35913"/>
                  </a:lnTo>
                  <a:cubicBezTo>
                    <a:pt x="0" y="16079"/>
                    <a:pt x="16079" y="0"/>
                    <a:pt x="35913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95584" cy="975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02843" y="3531786"/>
            <a:ext cx="10904067" cy="3223427"/>
            <a:chOff x="0" y="0"/>
            <a:chExt cx="2871853" cy="8489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71853" cy="848969"/>
            </a:xfrm>
            <a:custGeom>
              <a:avLst/>
              <a:gdLst/>
              <a:ahLst/>
              <a:cxnLst/>
              <a:rect l="l" t="t" r="r" b="b"/>
              <a:pathLst>
                <a:path w="2871853" h="848969">
                  <a:moveTo>
                    <a:pt x="17040" y="0"/>
                  </a:moveTo>
                  <a:lnTo>
                    <a:pt x="2854813" y="0"/>
                  </a:lnTo>
                  <a:cubicBezTo>
                    <a:pt x="2864224" y="0"/>
                    <a:pt x="2871853" y="7629"/>
                    <a:pt x="2871853" y="17040"/>
                  </a:cubicBezTo>
                  <a:lnTo>
                    <a:pt x="2871853" y="831928"/>
                  </a:lnTo>
                  <a:cubicBezTo>
                    <a:pt x="2871853" y="841339"/>
                    <a:pt x="2864224" y="848969"/>
                    <a:pt x="2854813" y="848969"/>
                  </a:cubicBezTo>
                  <a:lnTo>
                    <a:pt x="17040" y="848969"/>
                  </a:lnTo>
                  <a:cubicBezTo>
                    <a:pt x="7629" y="848969"/>
                    <a:pt x="0" y="841339"/>
                    <a:pt x="0" y="831928"/>
                  </a:cubicBezTo>
                  <a:lnTo>
                    <a:pt x="0" y="17040"/>
                  </a:lnTo>
                  <a:cubicBezTo>
                    <a:pt x="0" y="7629"/>
                    <a:pt x="7629" y="0"/>
                    <a:pt x="17040" y="0"/>
                  </a:cubicBezTo>
                  <a:close/>
                </a:path>
              </a:pathLst>
            </a:custGeom>
            <a:ln w="8572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71853" cy="887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546433" y="3941610"/>
            <a:ext cx="9789119" cy="1368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05"/>
              </a:lnSpc>
            </a:pPr>
            <a:r>
              <a:rPr lang="en-US" sz="40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SPEC TRAFFIC AI</a:t>
            </a:r>
            <a:endParaRPr lang="en-US" sz="40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  <a:p>
            <a:pPr algn="ctr">
              <a:lnSpc>
                <a:spcPts val="6105"/>
              </a:lnSpc>
            </a:pPr>
            <a:r>
              <a:rPr lang="en-US" sz="40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EXPLAINABLE TRAFFIC VIOLATION DETECTION FOR INDIAN ROADS</a:t>
            </a:r>
            <a:endParaRPr lang="en-US" sz="40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3141162" y="2866698"/>
            <a:ext cx="1497516" cy="1756617"/>
          </a:xfrm>
          <a:custGeom>
            <a:avLst/>
            <a:gdLst/>
            <a:ahLst/>
            <a:cxnLst/>
            <a:rect l="l" t="t" r="r" b="b"/>
            <a:pathLst>
              <a:path w="1497516" h="1756617">
                <a:moveTo>
                  <a:pt x="0" y="0"/>
                </a:moveTo>
                <a:lnTo>
                  <a:pt x="1497516" y="0"/>
                </a:lnTo>
                <a:lnTo>
                  <a:pt x="1497516" y="1756617"/>
                </a:lnTo>
                <a:lnTo>
                  <a:pt x="0" y="1756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832557" y="6983887"/>
            <a:ext cx="11771189" cy="189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Mentor: PROF - MEHER GAYATRI </a:t>
            </a:r>
          </a:p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Rishik Reddy P 23WU0102149 </a:t>
            </a:r>
          </a:p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Rohan Reddy - 23WU0102169</a:t>
            </a:r>
          </a:p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Hari Ramaneti - 23WU0102135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67088" y="973760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1116090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128953" y="7158106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956574" y="6736354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142900" y="2423421"/>
            <a:ext cx="8002200" cy="81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95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RECAP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539356"/>
            <a:ext cx="16355452" cy="2846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3000"/>
              </a:lnSpc>
              <a:spcBef>
                <a:spcPts val="500"/>
              </a:spcBef>
              <a:buFont typeface="Arial"/>
              <a:buChar char="•"/>
            </a:pPr>
            <a:r>
              <a:rPr lang="en-US" sz="2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Evaluation 1 proposed the architecture. This is the working system.</a:t>
            </a:r>
          </a:p>
          <a:p>
            <a:pPr algn="l" marL="400000" indent="-300000">
              <a:lnSpc>
                <a:spcPts val="3000"/>
              </a:lnSpc>
              <a:spcBef>
                <a:spcPts val="500"/>
              </a:spcBef>
              <a:buFont typeface="Arial"/>
              <a:buChar char="•"/>
            </a:pPr>
            <a:r>
              <a:rPr lang="en-US" sz="2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Detector trained on DriveIndia: 21 India-specific classes</a:t>
            </a:r>
          </a:p>
          <a:p>
            <a:pPr algn="l" marL="400000" indent="-300000">
              <a:lnSpc>
                <a:spcPts val="3000"/>
              </a:lnSpc>
              <a:spcBef>
                <a:spcPts val="500"/>
              </a:spcBef>
              <a:buFont typeface="Arial"/>
              <a:buChar char="•"/>
            </a:pPr>
            <a:r>
              <a:rPr lang="en-US" sz="2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Full pipeline built: ingest, detect, track, judge, capture, score</a:t>
            </a:r>
          </a:p>
          <a:p>
            <a:pPr algn="l" marL="400000" indent="-300000">
              <a:lnSpc>
                <a:spcPts val="3000"/>
              </a:lnSpc>
              <a:spcBef>
                <a:spcPts val="500"/>
              </a:spcBef>
              <a:buFont typeface="Arial"/>
              <a:buChar char="•"/>
            </a:pPr>
            <a:r>
              <a:rPr lang="en-US" sz="2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Runs on real traffic footage today, not a simulation</a:t>
            </a:r>
          </a:p>
          <a:p>
            <a:pPr algn="l" marL="400000" indent="-300000">
              <a:lnSpc>
                <a:spcPts val="3000"/>
              </a:lnSpc>
              <a:spcBef>
                <a:spcPts val="500"/>
              </a:spcBef>
              <a:buFont typeface="Arial"/>
              <a:buChar char="•"/>
            </a:pPr>
            <a:r>
              <a:rPr lang="en-US" sz="2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Code, weights and evaluation charts published publicly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67088" y="973760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1116090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625765" y="4908235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625765" y="6405270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625765" y="7889264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690114" y="1962512"/>
            <a:ext cx="1799958" cy="2322526"/>
          </a:xfrm>
          <a:custGeom>
            <a:avLst/>
            <a:gdLst/>
            <a:ahLst/>
            <a:cxnLst/>
            <a:rect l="l" t="t" r="r" b="b"/>
            <a:pathLst>
              <a:path w="1799958" h="2322526">
                <a:moveTo>
                  <a:pt x="0" y="0"/>
                </a:moveTo>
                <a:lnTo>
                  <a:pt x="1799958" y="0"/>
                </a:lnTo>
                <a:lnTo>
                  <a:pt x="1799958" y="2322526"/>
                </a:lnTo>
                <a:lnTo>
                  <a:pt x="0" y="2322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515067" y="3918112"/>
            <a:ext cx="1476878" cy="351989"/>
          </a:xfrm>
          <a:custGeom>
            <a:avLst/>
            <a:gdLst/>
            <a:ahLst/>
            <a:cxnLst/>
            <a:rect l="l" t="t" r="r" b="b"/>
            <a:pathLst>
              <a:path w="1476878" h="351989">
                <a:moveTo>
                  <a:pt x="0" y="0"/>
                </a:moveTo>
                <a:lnTo>
                  <a:pt x="1476878" y="0"/>
                </a:lnTo>
                <a:lnTo>
                  <a:pt x="1476878" y="351989"/>
                </a:lnTo>
                <a:lnTo>
                  <a:pt x="0" y="351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436282" y="1967793"/>
            <a:ext cx="7415437" cy="121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0"/>
              </a:lnSpc>
            </a:pPr>
            <a:r>
              <a:rPr lang="en-US" sz="80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OBJECTIVES</a:t>
            </a:r>
            <a:endParaRPr lang="en-US" sz="80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263065" y="4851085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 dirty="0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Train a detector on Indian road data that </a:t>
            </a:r>
            <a:r>
              <a:rPr lang="en-US" sz="2700" b="1" dirty="0" err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recognises</a:t>
            </a:r>
            <a:r>
              <a:rPr lang="en-US" sz="2700" b="1" dirty="0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 auto-rickshaws and two-wheelers, classes absent from general-purpose models such as COCO.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30073" y="5411060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30073" y="6908095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63065" y="6339307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Build a modular rule engine in which each violation is an independent, calibrated geometric module operating over one shared perception pass.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30073" y="8392088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63065" y="7823300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 dirty="0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Score whether each detection could survive a legal challenge, and route it for officer approval before any challan is issued.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67088" y="425746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583734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041100" y="1664017"/>
            <a:ext cx="1567711" cy="1789114"/>
          </a:xfrm>
          <a:custGeom>
            <a:avLst/>
            <a:gdLst/>
            <a:ahLst/>
            <a:cxnLst/>
            <a:rect l="l" t="t" r="r" b="b"/>
            <a:pathLst>
              <a:path w="1567711" h="1789114">
                <a:moveTo>
                  <a:pt x="0" y="0"/>
                </a:moveTo>
                <a:lnTo>
                  <a:pt x="1567711" y="0"/>
                </a:lnTo>
                <a:lnTo>
                  <a:pt x="1567711" y="1789114"/>
                </a:lnTo>
                <a:lnTo>
                  <a:pt x="0" y="17891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98658" y="934396"/>
            <a:ext cx="8384631" cy="1270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0"/>
              </a:lnSpc>
            </a:pPr>
            <a:r>
              <a:rPr lang="en-US" sz="95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WHAT WE BUILT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58405" y="4068208"/>
            <a:ext cx="11771189" cy="379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Ingestion: file, RTSP or live camera behind one interface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Detection: YOLO11 fine-tuned on DriveIndia, 21 Indian classes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Tracking: ByteTrack, a Kalman filter, not a learned model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Rule engine: self-registering modules, temporal consistency inherited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Evidence: rolling buffer captures approach, violation and departure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Calibration: draw lanes, headings, arms and stop lines on a real frame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Signal timing: per-arm congestion in PCU, Webster green split, advisory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05498" y="1271253"/>
            <a:ext cx="8445689" cy="2629440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089345" y="1310885"/>
            <a:ext cx="8031022" cy="2481967"/>
            <a:chOff x="0" y="-38100"/>
            <a:chExt cx="2801197" cy="9207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75138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75138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185400" y="2675003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1"/>
                </a:lnTo>
                <a:lnTo>
                  <a:pt x="0" y="316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185400" y="2279758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2"/>
                </a:lnTo>
                <a:lnTo>
                  <a:pt x="0" y="316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130262" y="2382361"/>
            <a:ext cx="2028825" cy="2028825"/>
          </a:xfrm>
          <a:custGeom>
            <a:avLst/>
            <a:gdLst/>
            <a:ahLst/>
            <a:cxnLst/>
            <a:rect l="l" t="t" r="r" b="b"/>
            <a:pathLst>
              <a:path w="2028825" h="2028825">
                <a:moveTo>
                  <a:pt x="0" y="0"/>
                </a:moveTo>
                <a:lnTo>
                  <a:pt x="2028825" y="0"/>
                </a:lnTo>
                <a:lnTo>
                  <a:pt x="2028825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885606" y="2438114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2"/>
                </a:lnTo>
                <a:lnTo>
                  <a:pt x="0" y="316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235161" y="7973852"/>
            <a:ext cx="2792199" cy="2090659"/>
          </a:xfrm>
          <a:custGeom>
            <a:avLst/>
            <a:gdLst/>
            <a:ahLst/>
            <a:cxnLst/>
            <a:rect l="l" t="t" r="r" b="b"/>
            <a:pathLst>
              <a:path w="2792199" h="2090659">
                <a:moveTo>
                  <a:pt x="0" y="0"/>
                </a:moveTo>
                <a:lnTo>
                  <a:pt x="2792199" y="0"/>
                </a:lnTo>
                <a:lnTo>
                  <a:pt x="2792199" y="2090659"/>
                </a:lnTo>
                <a:lnTo>
                  <a:pt x="0" y="2090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4673579" y="4880498"/>
            <a:ext cx="8940841" cy="927915"/>
            <a:chOff x="0" y="0"/>
            <a:chExt cx="11921122" cy="1237220"/>
          </a:xfrm>
        </p:grpSpPr>
        <p:sp>
          <p:nvSpPr>
            <p:cNvPr id="20" name="Freeform 20"/>
            <p:cNvSpPr/>
            <p:nvPr/>
          </p:nvSpPr>
          <p:spPr>
            <a:xfrm>
              <a:off x="0" y="24180"/>
              <a:ext cx="1779521" cy="1213040"/>
            </a:xfrm>
            <a:custGeom>
              <a:avLst/>
              <a:gdLst/>
              <a:ahLst/>
              <a:cxnLst/>
              <a:rect l="l" t="t" r="r" b="b"/>
              <a:pathLst>
                <a:path w="1779521" h="1213040">
                  <a:moveTo>
                    <a:pt x="0" y="0"/>
                  </a:moveTo>
                  <a:lnTo>
                    <a:pt x="1779521" y="0"/>
                  </a:lnTo>
                  <a:lnTo>
                    <a:pt x="1779521" y="1213040"/>
                  </a:lnTo>
                  <a:lnTo>
                    <a:pt x="0" y="121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3382158" y="24180"/>
              <a:ext cx="1779521" cy="1213040"/>
            </a:xfrm>
            <a:custGeom>
              <a:avLst/>
              <a:gdLst/>
              <a:ahLst/>
              <a:cxnLst/>
              <a:rect l="l" t="t" r="r" b="b"/>
              <a:pathLst>
                <a:path w="1779521" h="1213040">
                  <a:moveTo>
                    <a:pt x="0" y="0"/>
                  </a:moveTo>
                  <a:lnTo>
                    <a:pt x="1779521" y="0"/>
                  </a:lnTo>
                  <a:lnTo>
                    <a:pt x="1779521" y="1213040"/>
                  </a:lnTo>
                  <a:lnTo>
                    <a:pt x="0" y="121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6761879" y="24180"/>
              <a:ext cx="1779521" cy="1213040"/>
            </a:xfrm>
            <a:custGeom>
              <a:avLst/>
              <a:gdLst/>
              <a:ahLst/>
              <a:cxnLst/>
              <a:rect l="l" t="t" r="r" b="b"/>
              <a:pathLst>
                <a:path w="1779521" h="1213040">
                  <a:moveTo>
                    <a:pt x="0" y="0"/>
                  </a:moveTo>
                  <a:lnTo>
                    <a:pt x="1779522" y="0"/>
                  </a:lnTo>
                  <a:lnTo>
                    <a:pt x="1779522" y="1213040"/>
                  </a:lnTo>
                  <a:lnTo>
                    <a:pt x="0" y="121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0141601" y="0"/>
              <a:ext cx="1779521" cy="1213040"/>
            </a:xfrm>
            <a:custGeom>
              <a:avLst/>
              <a:gdLst/>
              <a:ahLst/>
              <a:cxnLst/>
              <a:rect l="l" t="t" r="r" b="b"/>
              <a:pathLst>
                <a:path w="1779521" h="1213040">
                  <a:moveTo>
                    <a:pt x="0" y="0"/>
                  </a:moveTo>
                  <a:lnTo>
                    <a:pt x="1779521" y="0"/>
                  </a:lnTo>
                  <a:lnTo>
                    <a:pt x="1779521" y="1213040"/>
                  </a:lnTo>
                  <a:lnTo>
                    <a:pt x="0" y="121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8558239" y="5421101"/>
            <a:ext cx="1127100" cy="387312"/>
          </a:xfrm>
          <a:custGeom>
            <a:avLst/>
            <a:gdLst/>
            <a:ahLst/>
            <a:cxnLst/>
            <a:rect l="l" t="t" r="r" b="b"/>
            <a:pathLst>
              <a:path w="1127100" h="387312">
                <a:moveTo>
                  <a:pt x="0" y="0"/>
                </a:moveTo>
                <a:lnTo>
                  <a:pt x="1127100" y="0"/>
                </a:lnTo>
                <a:lnTo>
                  <a:pt x="1127100" y="387312"/>
                </a:lnTo>
                <a:lnTo>
                  <a:pt x="0" y="387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843114" y="2436599"/>
            <a:ext cx="805739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66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HOW IT WORKS</a:t>
            </a:r>
            <a:endParaRPr lang="en-US" sz="66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085302" y="5215538"/>
            <a:ext cx="433241" cy="35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40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55904" y="5197494"/>
            <a:ext cx="433241" cy="35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40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52064" y="5215538"/>
            <a:ext cx="433241" cy="35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40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94551" y="5215538"/>
            <a:ext cx="433241" cy="35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40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48944" y="6217988"/>
            <a:ext cx="1798322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Ingest - file, RTSP or live camera behind one interface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73363" y="6217988"/>
            <a:ext cx="1798322" cy="1893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Detect and Track - 21 Indian classes, persistent identities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47719" y="6217988"/>
            <a:ext cx="1798322" cy="1893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Judge - calibrated geometric rules, temporal consistency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97884" y="6217988"/>
            <a:ext cx="1798322" cy="941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Capture and Score - evidence clip plus defensibility score</a:t>
            </a:r>
          </a:p>
        </p:txBody>
      </p:sp>
      <p:sp>
        <p:nvSpPr>
          <p:cNvPr id="34" name="Freeform 34"/>
          <p:cNvSpPr/>
          <p:nvPr/>
        </p:nvSpPr>
        <p:spPr>
          <a:xfrm flipV="1">
            <a:off x="6038036" y="4949844"/>
            <a:ext cx="1127100" cy="387312"/>
          </a:xfrm>
          <a:custGeom>
            <a:avLst/>
            <a:gdLst/>
            <a:ahLst/>
            <a:cxnLst/>
            <a:rect l="l" t="t" r="r" b="b"/>
            <a:pathLst>
              <a:path w="1127100" h="387312">
                <a:moveTo>
                  <a:pt x="0" y="387312"/>
                </a:moveTo>
                <a:lnTo>
                  <a:pt x="1127099" y="387312"/>
                </a:lnTo>
                <a:lnTo>
                  <a:pt x="1127099" y="0"/>
                </a:lnTo>
                <a:lnTo>
                  <a:pt x="0" y="0"/>
                </a:lnTo>
                <a:lnTo>
                  <a:pt x="0" y="3873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 flipV="1">
            <a:off x="11112231" y="4949844"/>
            <a:ext cx="1127100" cy="387312"/>
          </a:xfrm>
          <a:custGeom>
            <a:avLst/>
            <a:gdLst/>
            <a:ahLst/>
            <a:cxnLst/>
            <a:rect l="l" t="t" r="r" b="b"/>
            <a:pathLst>
              <a:path w="1127100" h="387312">
                <a:moveTo>
                  <a:pt x="0" y="387312"/>
                </a:moveTo>
                <a:lnTo>
                  <a:pt x="1127100" y="387312"/>
                </a:lnTo>
                <a:lnTo>
                  <a:pt x="1127100" y="0"/>
                </a:lnTo>
                <a:lnTo>
                  <a:pt x="0" y="0"/>
                </a:lnTo>
                <a:lnTo>
                  <a:pt x="0" y="3873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484827" y="770212"/>
            <a:ext cx="7584524" cy="2191030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21701" y="912542"/>
            <a:ext cx="7216830" cy="1987831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625765" y="4908235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625765" y="6405270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625765" y="7889264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327177" y="2540249"/>
            <a:ext cx="1476878" cy="351989"/>
          </a:xfrm>
          <a:custGeom>
            <a:avLst/>
            <a:gdLst/>
            <a:ahLst/>
            <a:cxnLst/>
            <a:rect l="l" t="t" r="r" b="b"/>
            <a:pathLst>
              <a:path w="1476878" h="351989">
                <a:moveTo>
                  <a:pt x="0" y="0"/>
                </a:moveTo>
                <a:lnTo>
                  <a:pt x="1476878" y="0"/>
                </a:lnTo>
                <a:lnTo>
                  <a:pt x="1476878" y="351989"/>
                </a:lnTo>
                <a:lnTo>
                  <a:pt x="0" y="351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125213" y="1263204"/>
            <a:ext cx="6021917" cy="913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00"/>
              </a:lnSpc>
            </a:pPr>
            <a:r>
              <a:rPr lang="en-US" sz="72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RESULTS</a:t>
            </a:r>
            <a:endParaRPr lang="en-US" sz="72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263065" y="4851085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0.703 mAP@50 across all 21 classes, measured on the official held-out test split. DriveIndia publishes a baseline of 78.7 percent on the full dataset.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30073" y="5411060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30073" y="6908095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63065" y="6339307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0.800 mAP@50 across the 18 classes with adequate training support. Three classes had fewer than 100 instances and could not be learned.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30073" y="8392088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63065" y="7823300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0.868 mAP@50 across the seven enforcement-relevant classes. Auto-rickshaw, absent from COCO entirely, reaches 0.888.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34306" y="770210"/>
            <a:ext cx="7897675" cy="2238003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465126" y="975172"/>
            <a:ext cx="7498666" cy="1768625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498912" y="1703174"/>
            <a:ext cx="741543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4800">
                <a:solidFill>
                  <a:srgbClr val="16404D"/>
                </a:solidFill>
                <a:latin typeface="Sergio Trendy"/>
                <a:ea typeface="Brice BoldCondensed"/>
                <a:cs typeface="Brice BoldCondensed"/>
                <a:sym typeface="Brice BoldCondensed"/>
              </a:rPr>
              <a:t>GENERALISATION GAP</a:t>
            </a:r>
            <a:endParaRPr lang="en-US" sz="4800">
              <a:solidFill>
                <a:srgbClr val="16404D"/>
              </a:solidFill>
              <a:latin typeface="Sergio Trendy"/>
              <a:ea typeface="Brice BoldCondensed"/>
              <a:cs typeface="Brice BoldCondense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255665" y="3582825"/>
            <a:ext cx="11771189" cy="379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Same weights, evaluated on all three splits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Validation and test agree closely: the split is representative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Most published work reports the blue bar. We report the green.</a:t>
            </a:r>
          </a:p>
        </p:txBody>
      </p:sp>
      <p:pic>
        <p:nvPicPr>
          <p:cNvPr id="900" name="chart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218" y="4912081"/>
            <a:ext cx="10864235" cy="5370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1677" y="1036390"/>
            <a:ext cx="7678469" cy="2300632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24208" y="1178720"/>
            <a:ext cx="7295118" cy="2081776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451939" y="1985011"/>
            <a:ext cx="703965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48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PER-CLASS ACCURACY</a:t>
            </a:r>
            <a:endParaRPr lang="en-US" sz="48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255665" y="4209126"/>
            <a:ext cx="11771189" cy="379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Auto-rickshaw 0.888, above the overall mean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A class COCO does not have at all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Speed bump: 0.823 from just 124 training instances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Commercial vehicle: 0.707 from 4,280 instances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Visual distinctiveness matters more than sample count</a:t>
            </a:r>
          </a:p>
        </p:txBody>
      </p:sp>
      <p:pic>
        <p:nvPicPr>
          <p:cNvPr id="901" name="chart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334" y="5710616"/>
            <a:ext cx="864333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01815" y="-43695"/>
            <a:ext cx="10374390" cy="10374390"/>
          </a:xfrm>
          <a:custGeom>
            <a:avLst/>
            <a:gdLst/>
            <a:ahLst/>
            <a:cxnLst/>
            <a:rect l="l" t="t" r="r" b="b"/>
            <a:pathLst>
              <a:path w="10374390" h="10374390">
                <a:moveTo>
                  <a:pt x="0" y="0"/>
                </a:moveTo>
                <a:lnTo>
                  <a:pt x="10374390" y="0"/>
                </a:lnTo>
                <a:lnTo>
                  <a:pt x="10374390" y="10374390"/>
                </a:lnTo>
                <a:lnTo>
                  <a:pt x="0" y="1037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15425" y="-43695"/>
            <a:ext cx="10374390" cy="10374390"/>
          </a:xfrm>
          <a:custGeom>
            <a:avLst/>
            <a:gdLst/>
            <a:ahLst/>
            <a:cxnLst/>
            <a:rect l="l" t="t" r="r" b="b"/>
            <a:pathLst>
              <a:path w="10374390" h="10374390">
                <a:moveTo>
                  <a:pt x="0" y="0"/>
                </a:moveTo>
                <a:lnTo>
                  <a:pt x="10374390" y="0"/>
                </a:lnTo>
                <a:lnTo>
                  <a:pt x="10374390" y="10374390"/>
                </a:lnTo>
                <a:lnTo>
                  <a:pt x="0" y="1037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467088" y="973760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1116090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302620" y="1804691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2"/>
                </a:lnTo>
                <a:lnTo>
                  <a:pt x="0" y="316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179037" y="2121403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1"/>
                </a:lnTo>
                <a:lnTo>
                  <a:pt x="0" y="316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931870" y="1934138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2"/>
                </a:lnTo>
                <a:lnTo>
                  <a:pt x="0" y="316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840959" y="2079136"/>
            <a:ext cx="1461661" cy="2318563"/>
          </a:xfrm>
          <a:custGeom>
            <a:avLst/>
            <a:gdLst/>
            <a:ahLst/>
            <a:cxnLst/>
            <a:rect l="l" t="t" r="r" b="b"/>
            <a:pathLst>
              <a:path w="1461661" h="2318563">
                <a:moveTo>
                  <a:pt x="0" y="0"/>
                </a:moveTo>
                <a:lnTo>
                  <a:pt x="1461661" y="0"/>
                </a:lnTo>
                <a:lnTo>
                  <a:pt x="1461661" y="2318563"/>
                </a:lnTo>
                <a:lnTo>
                  <a:pt x="0" y="23185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436282" y="2423421"/>
            <a:ext cx="7415437" cy="81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95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CHALLENGES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86980" y="4851085"/>
            <a:ext cx="11771189" cy="379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Viewpoint gap: DriveIndia is dashcam, enforcement cameras are elevated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Seen from above, a car roof and a bus roof are both large rectangles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Our test accuracy holds for dashcam, not yet for overhead CCTV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BMD-45 measures the same collapse: 83.8% in-domain, 33.6% cross-domain [4]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Calibration: one direction per camera flagged 8 legally-travelling vehicles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The system now abstains outside any declared lane rather than guessing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61033" y="410089"/>
            <a:ext cx="9322510" cy="2707728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760537" y="583734"/>
            <a:ext cx="8845214" cy="2316639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931870" y="1934138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2"/>
                </a:lnTo>
                <a:lnTo>
                  <a:pt x="0" y="316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856617" y="1593752"/>
            <a:ext cx="1461661" cy="2318563"/>
          </a:xfrm>
          <a:custGeom>
            <a:avLst/>
            <a:gdLst/>
            <a:ahLst/>
            <a:cxnLst/>
            <a:rect l="l" t="t" r="r" b="b"/>
            <a:pathLst>
              <a:path w="1461661" h="2318563">
                <a:moveTo>
                  <a:pt x="0" y="0"/>
                </a:moveTo>
                <a:lnTo>
                  <a:pt x="1461661" y="0"/>
                </a:lnTo>
                <a:lnTo>
                  <a:pt x="1461661" y="2318563"/>
                </a:lnTo>
                <a:lnTo>
                  <a:pt x="0" y="23185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436282" y="982928"/>
            <a:ext cx="741543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48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THE DOMAIN GAP, MADE VISIBLE</a:t>
            </a:r>
            <a:endParaRPr lang="en-US" sz="48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318295" y="4522277"/>
            <a:ext cx="11771189" cy="379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Cars, motorcycles, auto-rickshaws, pedestrians: correct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Large vehicles seen from above: mislabelled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Trained on dashcam imagery, tested on an elevated view</a:t>
            </a:r>
          </a:p>
        </p:txBody>
      </p:sp>
      <p:pic>
        <p:nvPicPr>
          <p:cNvPr id="902" name="chart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0056" y="6415205"/>
            <a:ext cx="4200133" cy="38047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01815" y="-43695"/>
            <a:ext cx="10374390" cy="10374390"/>
          </a:xfrm>
          <a:custGeom>
            <a:avLst/>
            <a:gdLst/>
            <a:ahLst/>
            <a:cxnLst/>
            <a:rect l="l" t="t" r="r" b="b"/>
            <a:pathLst>
              <a:path w="10374390" h="10374390">
                <a:moveTo>
                  <a:pt x="0" y="0"/>
                </a:moveTo>
                <a:lnTo>
                  <a:pt x="10374390" y="0"/>
                </a:lnTo>
                <a:lnTo>
                  <a:pt x="10374390" y="10374390"/>
                </a:lnTo>
                <a:lnTo>
                  <a:pt x="0" y="1037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15425" y="-43695"/>
            <a:ext cx="10374390" cy="10374390"/>
          </a:xfrm>
          <a:custGeom>
            <a:avLst/>
            <a:gdLst/>
            <a:ahLst/>
            <a:cxnLst/>
            <a:rect l="l" t="t" r="r" b="b"/>
            <a:pathLst>
              <a:path w="10374390" h="10374390">
                <a:moveTo>
                  <a:pt x="0" y="0"/>
                </a:moveTo>
                <a:lnTo>
                  <a:pt x="10374390" y="0"/>
                </a:lnTo>
                <a:lnTo>
                  <a:pt x="10374390" y="10374390"/>
                </a:lnTo>
                <a:lnTo>
                  <a:pt x="0" y="1037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467088" y="973760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1116090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330605" y="2517101"/>
            <a:ext cx="2518977" cy="2076056"/>
          </a:xfrm>
          <a:custGeom>
            <a:avLst/>
            <a:gdLst/>
            <a:ahLst/>
            <a:cxnLst/>
            <a:rect l="l" t="t" r="r" b="b"/>
            <a:pathLst>
              <a:path w="2518977" h="2076056">
                <a:moveTo>
                  <a:pt x="0" y="0"/>
                </a:moveTo>
                <a:lnTo>
                  <a:pt x="2518976" y="0"/>
                </a:lnTo>
                <a:lnTo>
                  <a:pt x="2518976" y="2076057"/>
                </a:lnTo>
                <a:lnTo>
                  <a:pt x="0" y="2076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811003" y="3238418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1"/>
                </a:lnTo>
                <a:lnTo>
                  <a:pt x="0" y="316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436282" y="2423421"/>
            <a:ext cx="7415437" cy="81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95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NOVELTY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58405" y="4851085"/>
            <a:ext cx="11771189" cy="379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2625"/>
              </a:lnSpc>
              <a:spcBef>
                <a:spcPts val="500"/>
              </a:spcBef>
              <a:buFont typeface="Arial"/>
              <a:buChar char="•"/>
            </a:pPr>
            <a:r>
              <a:rPr lang="en-US" sz="21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Kerala AI cameras: 66.41 lakh violations, Rs 428 cr in challans issued</a:t>
            </a:r>
          </a:p>
          <a:p>
            <a:pPr algn="l" marL="400000" indent="-300000">
              <a:lnSpc>
                <a:spcPts val="2625"/>
              </a:lnSpc>
              <a:spcBef>
                <a:spcPts val="500"/>
              </a:spcBef>
              <a:buFont typeface="Arial"/>
              <a:buChar char="•"/>
            </a:pPr>
            <a:r>
              <a:rPr lang="en-US" sz="21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Only Rs 76.7 cr collected. Detection was never the bottleneck.</a:t>
            </a:r>
          </a:p>
          <a:p>
            <a:pPr algn="l" marL="400000" indent="-300000">
              <a:lnSpc>
                <a:spcPts val="2625"/>
              </a:lnSpc>
              <a:spcBef>
                <a:spcPts val="500"/>
              </a:spcBef>
              <a:buFont typeface="Arial"/>
              <a:buChar char="•"/>
            </a:pPr>
            <a:r>
              <a:rPr lang="en-US" sz="21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Bengaluru: AI helmet fines are revalidated MANUALLY before issue [10]</a:t>
            </a:r>
          </a:p>
          <a:p>
            <a:pPr algn="l" marL="400000" indent="-300000">
              <a:lnSpc>
                <a:spcPts val="2625"/>
              </a:lnSpc>
              <a:spcBef>
                <a:spcPts val="500"/>
              </a:spcBef>
              <a:buFont typeface="Arial"/>
              <a:buChar char="•"/>
            </a:pPr>
            <a:r>
              <a:rPr lang="en-US" sz="21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Detection confidence says "that is a motorcycle"</a:t>
            </a:r>
          </a:p>
          <a:p>
            <a:pPr algn="l" marL="400000" indent="-300000">
              <a:lnSpc>
                <a:spcPts val="2625"/>
              </a:lnSpc>
              <a:spcBef>
                <a:spcPts val="500"/>
              </a:spcBef>
              <a:buFont typeface="Arial"/>
              <a:buChar char="•"/>
            </a:pPr>
            <a:r>
              <a:rPr lang="en-US" sz="21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It says nothing about whether the challan survives a challenge</a:t>
            </a:r>
          </a:p>
          <a:p>
            <a:pPr algn="l" marL="400000" indent="-300000">
              <a:lnSpc>
                <a:spcPts val="2625"/>
              </a:lnSpc>
              <a:spcBef>
                <a:spcPts val="500"/>
              </a:spcBef>
              <a:buFont typeface="Arial"/>
              <a:buChar char="•"/>
            </a:pPr>
            <a:r>
              <a:rPr lang="en-US" sz="21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EDS scores five dimensions: 80+ auto, 50 to 80 review, below 50 drop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811003" y="2843173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2"/>
                </a:lnTo>
                <a:lnTo>
                  <a:pt x="0" y="316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511209" y="3001529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1"/>
                </a:lnTo>
                <a:lnTo>
                  <a:pt x="0" y="316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67088" y="973760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1116090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436282" y="2423421"/>
            <a:ext cx="741543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54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FUTURE ACTIONS</a:t>
            </a:r>
            <a:endParaRPr lang="en-US" sz="54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3625765" y="4908235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625765" y="6405270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625765" y="7889264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263065" y="4851085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Fine-tune on CCTV-viewpoint imagery to close the domain gap, and complete the rule set with triple riding, red-light jumping, helmet compliance and speed.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30073" y="5411060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30073" y="6908095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63065" y="6339307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Build the officer review portal and Motor Vehicles Act challan generation, with plate recognition using multi-frame voting across each vehicle track.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30073" y="8392088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63065" y="7823300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Validate the Evidence Defensibility Score against real officer approve and reject decisions, reporting the area under the ROC curve.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14061" y="472719"/>
            <a:ext cx="9479085" cy="2410235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744880" y="615049"/>
            <a:ext cx="9017446" cy="2175721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498913" y="1374366"/>
            <a:ext cx="750938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66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CONCLUSION</a:t>
            </a:r>
            <a:endParaRPr lang="en-US" sz="66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365268" y="3441907"/>
            <a:ext cx="11771189" cy="379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Working pipeline: video in, legally-framed evidence package out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0.703 mAP@50 on held-out test, 0.868 on enforcement classes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Auto-rickshaw 0.888, a class COCO does not have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One perception pass now drives BOTH enforcement and signal timing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Every detection carries a plain-language reason trace</a:t>
            </a:r>
          </a:p>
          <a:p>
            <a:pPr algn="l" marL="400000" indent="-300000">
              <a:lnSpc>
                <a:spcPts val="2750"/>
              </a:lnSpc>
              <a:spcBef>
                <a:spcPts val="500"/>
              </a:spcBef>
              <a:buFont typeface="Arial"/>
              <a:buChar char="•"/>
            </a:pPr>
            <a:r>
              <a:rPr lang="en-US" sz="22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No challan issued, and no signal actuated, without human approval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67694" y="-43695"/>
            <a:ext cx="10374390" cy="10374390"/>
          </a:xfrm>
          <a:custGeom>
            <a:avLst/>
            <a:gdLst/>
            <a:ahLst/>
            <a:cxnLst/>
            <a:rect l="l" t="t" r="r" b="b"/>
            <a:pathLst>
              <a:path w="10374390" h="10374390">
                <a:moveTo>
                  <a:pt x="0" y="0"/>
                </a:moveTo>
                <a:lnTo>
                  <a:pt x="10374390" y="0"/>
                </a:lnTo>
                <a:lnTo>
                  <a:pt x="10374390" y="10374390"/>
                </a:lnTo>
                <a:lnTo>
                  <a:pt x="0" y="1037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72575" y="-43695"/>
            <a:ext cx="10374390" cy="10374390"/>
          </a:xfrm>
          <a:custGeom>
            <a:avLst/>
            <a:gdLst/>
            <a:ahLst/>
            <a:cxnLst/>
            <a:rect l="l" t="t" r="r" b="b"/>
            <a:pathLst>
              <a:path w="10374390" h="10374390">
                <a:moveTo>
                  <a:pt x="0" y="0"/>
                </a:moveTo>
                <a:lnTo>
                  <a:pt x="10374390" y="0"/>
                </a:lnTo>
                <a:lnTo>
                  <a:pt x="10374390" y="10374390"/>
                </a:lnTo>
                <a:lnTo>
                  <a:pt x="0" y="1037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219242" y="3501842"/>
            <a:ext cx="9849515" cy="3283315"/>
            <a:chOff x="0" y="0"/>
            <a:chExt cx="13132687" cy="4377754"/>
          </a:xfrm>
        </p:grpSpPr>
        <p:grpSp>
          <p:nvGrpSpPr>
            <p:cNvPr id="9" name="Group 9"/>
            <p:cNvGrpSpPr/>
            <p:nvPr/>
          </p:nvGrpSpPr>
          <p:grpSpPr>
            <a:xfrm>
              <a:off x="538072" y="589718"/>
              <a:ext cx="11696747" cy="3788036"/>
              <a:chOff x="0" y="0"/>
              <a:chExt cx="2895584" cy="93774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95584" cy="937746"/>
              </a:xfrm>
              <a:custGeom>
                <a:avLst/>
                <a:gdLst/>
                <a:ahLst/>
                <a:cxnLst/>
                <a:rect l="l" t="t" r="r" b="b"/>
                <a:pathLst>
                  <a:path w="2895584" h="937746">
                    <a:moveTo>
                      <a:pt x="35913" y="0"/>
                    </a:moveTo>
                    <a:lnTo>
                      <a:pt x="2859671" y="0"/>
                    </a:lnTo>
                    <a:cubicBezTo>
                      <a:pt x="2869196" y="0"/>
                      <a:pt x="2878331" y="3784"/>
                      <a:pt x="2885066" y="10519"/>
                    </a:cubicBezTo>
                    <a:cubicBezTo>
                      <a:pt x="2891801" y="17254"/>
                      <a:pt x="2895584" y="26389"/>
                      <a:pt x="2895584" y="35913"/>
                    </a:cubicBezTo>
                    <a:lnTo>
                      <a:pt x="2895584" y="901832"/>
                    </a:lnTo>
                    <a:cubicBezTo>
                      <a:pt x="2895584" y="911357"/>
                      <a:pt x="2891801" y="920492"/>
                      <a:pt x="2885066" y="927227"/>
                    </a:cubicBezTo>
                    <a:cubicBezTo>
                      <a:pt x="2878331" y="933962"/>
                      <a:pt x="2869196" y="937746"/>
                      <a:pt x="2859671" y="937746"/>
                    </a:cubicBezTo>
                    <a:lnTo>
                      <a:pt x="35913" y="937746"/>
                    </a:lnTo>
                    <a:cubicBezTo>
                      <a:pt x="16079" y="937746"/>
                      <a:pt x="0" y="921667"/>
                      <a:pt x="0" y="901832"/>
                    </a:cubicBezTo>
                    <a:lnTo>
                      <a:pt x="0" y="35913"/>
                    </a:lnTo>
                    <a:cubicBezTo>
                      <a:pt x="0" y="16079"/>
                      <a:pt x="16079" y="0"/>
                      <a:pt x="35913" y="0"/>
                    </a:cubicBezTo>
                    <a:close/>
                  </a:path>
                </a:pathLst>
              </a:custGeom>
              <a:solidFill>
                <a:srgbClr val="FBF5DD"/>
              </a:solidFill>
              <a:ln w="38100" cap="rnd">
                <a:solidFill>
                  <a:srgbClr val="78633F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895584" cy="9758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10355" y="769027"/>
              <a:ext cx="11152180" cy="3429419"/>
              <a:chOff x="0" y="0"/>
              <a:chExt cx="2760774" cy="84896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760774" cy="848969"/>
              </a:xfrm>
              <a:custGeom>
                <a:avLst/>
                <a:gdLst/>
                <a:ahLst/>
                <a:cxnLst/>
                <a:rect l="l" t="t" r="r" b="b"/>
                <a:pathLst>
                  <a:path w="2760774" h="848969">
                    <a:moveTo>
                      <a:pt x="17726" y="0"/>
                    </a:moveTo>
                    <a:lnTo>
                      <a:pt x="2743048" y="0"/>
                    </a:lnTo>
                    <a:cubicBezTo>
                      <a:pt x="2752838" y="0"/>
                      <a:pt x="2760774" y="7936"/>
                      <a:pt x="2760774" y="17726"/>
                    </a:cubicBezTo>
                    <a:lnTo>
                      <a:pt x="2760774" y="831243"/>
                    </a:lnTo>
                    <a:cubicBezTo>
                      <a:pt x="2760774" y="835944"/>
                      <a:pt x="2758907" y="840453"/>
                      <a:pt x="2755582" y="843777"/>
                    </a:cubicBezTo>
                    <a:cubicBezTo>
                      <a:pt x="2752258" y="847101"/>
                      <a:pt x="2747750" y="848969"/>
                      <a:pt x="2743048" y="848969"/>
                    </a:cubicBezTo>
                    <a:lnTo>
                      <a:pt x="17726" y="848969"/>
                    </a:lnTo>
                    <a:cubicBezTo>
                      <a:pt x="13025" y="848969"/>
                      <a:pt x="8516" y="847101"/>
                      <a:pt x="5192" y="843777"/>
                    </a:cubicBezTo>
                    <a:cubicBezTo>
                      <a:pt x="1868" y="840453"/>
                      <a:pt x="0" y="835944"/>
                      <a:pt x="0" y="831243"/>
                    </a:cubicBezTo>
                    <a:lnTo>
                      <a:pt x="0" y="17726"/>
                    </a:lnTo>
                    <a:cubicBezTo>
                      <a:pt x="0" y="13025"/>
                      <a:pt x="1868" y="8516"/>
                      <a:pt x="5192" y="5192"/>
                    </a:cubicBezTo>
                    <a:cubicBezTo>
                      <a:pt x="8516" y="1868"/>
                      <a:pt x="13025" y="0"/>
                      <a:pt x="17726" y="0"/>
                    </a:cubicBezTo>
                    <a:close/>
                  </a:path>
                </a:pathLst>
              </a:custGeom>
              <a:ln w="85725" cap="rnd">
                <a:solidFill>
                  <a:srgbClr val="78633F"/>
                </a:solidFill>
                <a:prstDash val="lgDash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760774" cy="8870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560645" y="1975414"/>
              <a:ext cx="9651602" cy="1197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67"/>
                </a:lnSpc>
              </a:pPr>
              <a:r>
                <a:rPr lang="en-US" sz="6812">
                  <a:solidFill>
                    <a:srgbClr val="16404D"/>
                  </a:solidFill>
                  <a:latin typeface="Brice BoldCondensed"/>
                  <a:ea typeface="Brice BoldCondensed"/>
                  <a:cs typeface="Brice BoldCondensed"/>
                  <a:sym typeface="Brice BoldCondensed"/>
                </a:rPr>
                <a:t>THANK YOU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951770" y="0"/>
              <a:ext cx="2180917" cy="4377754"/>
            </a:xfrm>
            <a:custGeom>
              <a:avLst/>
              <a:gdLst/>
              <a:ahLst/>
              <a:cxnLst/>
              <a:rect l="l" t="t" r="r" b="b"/>
              <a:pathLst>
                <a:path w="2180917" h="4377754">
                  <a:moveTo>
                    <a:pt x="0" y="0"/>
                  </a:moveTo>
                  <a:lnTo>
                    <a:pt x="2180917" y="0"/>
                  </a:lnTo>
                  <a:lnTo>
                    <a:pt x="2180917" y="4377754"/>
                  </a:lnTo>
                  <a:lnTo>
                    <a:pt x="0" y="437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0" y="61436"/>
              <a:ext cx="1593213" cy="1868872"/>
            </a:xfrm>
            <a:custGeom>
              <a:avLst/>
              <a:gdLst/>
              <a:ahLst/>
              <a:cxnLst/>
              <a:rect l="l" t="t" r="r" b="b"/>
              <a:pathLst>
                <a:path w="1593213" h="1868872">
                  <a:moveTo>
                    <a:pt x="0" y="0"/>
                  </a:moveTo>
                  <a:lnTo>
                    <a:pt x="1593213" y="0"/>
                  </a:lnTo>
                  <a:lnTo>
                    <a:pt x="1593213" y="1868872"/>
                  </a:lnTo>
                  <a:lnTo>
                    <a:pt x="0" y="1868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67088" y="425746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583734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041100" y="1664017"/>
            <a:ext cx="1567711" cy="1789114"/>
          </a:xfrm>
          <a:custGeom>
            <a:avLst/>
            <a:gdLst/>
            <a:ahLst/>
            <a:cxnLst/>
            <a:rect l="l" t="t" r="r" b="b"/>
            <a:pathLst>
              <a:path w="1567711" h="1789114">
                <a:moveTo>
                  <a:pt x="0" y="0"/>
                </a:moveTo>
                <a:lnTo>
                  <a:pt x="1567711" y="0"/>
                </a:lnTo>
                <a:lnTo>
                  <a:pt x="1567711" y="1789114"/>
                </a:lnTo>
                <a:lnTo>
                  <a:pt x="0" y="17891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98658" y="934396"/>
            <a:ext cx="8384631" cy="1270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0"/>
              </a:lnSpc>
            </a:pPr>
            <a:r>
              <a:rPr lang="en-US" sz="95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LITERATURE REVIEW</a:t>
            </a:r>
          </a:p>
        </p:txBody>
      </p:sp>
      <p:graphicFrame>
        <p:nvGraphicFramePr>
          <p:cNvPr id="950" name="LiteratureTable"/>
          <p:cNvGraphicFramePr>
            <a:graphicFrameLocks noGrp="1"/>
          </p:cNvGraphicFramePr>
          <p:nvPr/>
        </p:nvGraphicFramePr>
        <p:xfrm>
          <a:off x="685800" y="2377440"/>
          <a:ext cx="14859000" cy="5120640"/>
        </p:xfrm>
        <a:graphic>
          <a:graphicData uri="http://schemas.openxmlformats.org/drawingml/2006/table">
            <a:tbl>
              <a:tblPr firstRow="1"/>
              <a:tblGrid>
                <a:gridCol w="2286000"/>
                <a:gridCol w="4343400"/>
                <a:gridCol w="2743200"/>
                <a:gridCol w="5486400"/>
              </a:tblGrid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494"/>
                        </a:lnSpc>
                      </a:pPr>
                      <a:r>
                        <a:rPr lang="en-US" sz="1300" b="1">
                          <a:solidFill>
                            <a:srgbClr val="FBF5D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WORK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1640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94"/>
                        </a:lnSpc>
                      </a:pPr>
                      <a:r>
                        <a:rPr lang="en-US" sz="1300" b="1">
                          <a:solidFill>
                            <a:srgbClr val="FBF5D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CONTRIBUTION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1640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94"/>
                        </a:lnSpc>
                      </a:pPr>
                      <a:r>
                        <a:rPr lang="en-US" sz="1300" b="1">
                          <a:solidFill>
                            <a:srgbClr val="FBF5D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REPORTED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1640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94"/>
                        </a:lnSpc>
                      </a:pPr>
                      <a:r>
                        <a:rPr lang="en-US" sz="1300" b="1">
                          <a:solidFill>
                            <a:srgbClr val="FBF5D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LIMITATION FOR ENFORCEMENT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16404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DriveIndia</a:t>
                      </a:r>
                    </a:p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2025  [1]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Large Indian road dataset; auto-rickshaw and other classes absent from COCO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78.7% mAP@50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Dashcam viewpoint. Detection only - no violation logic, no evidence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Ravish et al.</a:t>
                      </a:r>
                    </a:p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2021  [2]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3ED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End-to-end pipeline: helmet, triple riding, ANPR, automated ticketing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3ED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Working prototype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3ED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No held-out evaluation. Evidence quality is never modelled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3EDD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Ren</a:t>
                      </a:r>
                    </a:p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2024  [3]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Computer vision plus human-computer interaction over eight violation types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&gt;96.9% accuracy;</a:t>
                      </a:r>
                    </a:p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99.7% on red-light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Laboratory accuracy only - no held-out split and no field deployment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BMD-45</a:t>
                      </a:r>
                    </a:p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2026  [4]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3ED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480k boxes from 3.6k operational Indian CCTV cameras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3ED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83.8% in-domain vs</a:t>
                      </a:r>
                    </a:p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33.6% cross-domain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3ED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Confirms viewpoint transfer collapses. Still detection, not enforceability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3EDD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Wilson et al.</a:t>
                      </a:r>
                    </a:p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Cochrane 2010  [6]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Systematic review of 35 automated speed-enforcement studies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Crashes down 8-49%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7"/>
                        </a:lnSpc>
                      </a:pPr>
                      <a:r>
                        <a:rPr lang="en-US" sz="1250" b="1">
                          <a:solidFill>
                            <a:srgbClr val="16404D"/>
                          </a:solidFill>
                          <a:latin typeface="Ruda Bold"/>
                          <a:ea typeface="Ruda Bold"/>
                          <a:cs typeface="Ruda Bold"/>
                          <a:sym typeface="Ruda Bold"/>
                        </a:rPr>
                        <a:t>Enforcement works - but only once a challan is issued AND upheld</a:t>
                      </a:r>
                    </a:p>
                  </a:txBody>
                  <a:tcPr marL="109728" marR="109728" marT="73152" marB="73152" anchor="t">
                    <a:lnB w="6350" cap="flat">
                      <a:solidFill>
                        <a:srgbClr val="16404D">
                          <a:alpha val="35000"/>
                        </a:srgbClr>
                      </a:solidFill>
                    </a:lnB>
                    <a:solidFill>
                      <a:srgbClr val="FBF5DD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6"/>
          <p:cNvSpPr txBox="1"/>
          <p:nvPr/>
        </p:nvSpPr>
        <p:spPr>
          <a:xfrm>
            <a:off x="685800" y="8046720"/>
            <a:ext cx="14859000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1875"/>
              </a:lnSpc>
              <a:spcBef>
                <a:spcPts val="500"/>
              </a:spcBef>
              <a:buFont typeface="Arial"/>
              <a:buChar char="•"/>
            </a:pPr>
            <a:r>
              <a:rPr lang="en-US" sz="15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Automated enforcement works: crashes down 8-49% across 35 studies [6]; spot cameras cut fatal crashes 51%, section control 56% of KSI crashes [7]</a:t>
            </a:r>
          </a:p>
          <a:p>
            <a:pPr algn="l" marL="400000" indent="-300000">
              <a:lnSpc>
                <a:spcPts val="1875"/>
              </a:lnSpc>
              <a:spcBef>
                <a:spcPts val="500"/>
              </a:spcBef>
              <a:buFont typeface="Arial"/>
              <a:buChar char="•"/>
            </a:pPr>
            <a:r>
              <a:rPr lang="en-US" sz="15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India needs it: overspeeding in 68.4% of accidents; 54,568 killed without a helmet in 2023 [8]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67088" y="425746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583734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041100" y="1664017"/>
            <a:ext cx="1567711" cy="1789114"/>
          </a:xfrm>
          <a:custGeom>
            <a:avLst/>
            <a:gdLst/>
            <a:ahLst/>
            <a:cxnLst/>
            <a:rect l="l" t="t" r="r" b="b"/>
            <a:pathLst>
              <a:path w="1567711" h="1789114">
                <a:moveTo>
                  <a:pt x="0" y="0"/>
                </a:moveTo>
                <a:lnTo>
                  <a:pt x="1567711" y="0"/>
                </a:lnTo>
                <a:lnTo>
                  <a:pt x="1567711" y="1789114"/>
                </a:lnTo>
                <a:lnTo>
                  <a:pt x="0" y="17891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98658" y="934396"/>
            <a:ext cx="8384631" cy="1270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0"/>
              </a:lnSpc>
            </a:pPr>
            <a:r>
              <a:rPr lang="en-US" sz="95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WHERE IT BREAKS DOWN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58405" y="4068208"/>
            <a:ext cx="11771189" cy="379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Bengaluru ITMS: helmet detection 75-80% raw, 99.9% only after MANUAL revalidation [10]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Kerala: 66.41 lakh violations, Rs 428 cr issued, only Rs 76.7 cr collected [9]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Ren reports 98% lab accuracy with no held-out split and no field deployment [3]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Cross-domain collapse: 83.8% in-domain falls to 33.6% on Indian CCTV [4]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UK field study: ANPR misreads 28.5% of number plates [5]</a:t>
            </a:r>
          </a:p>
          <a:p>
            <a:pPr algn="l" marL="400000" indent="-300000">
              <a:lnSpc>
                <a:spcPts val="25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Legal wall: without a Section 65B certificate, footage is inadmissible [13]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67088" y="973760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1116090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625765" y="4908235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625765" y="6405270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625765" y="7889264"/>
            <a:ext cx="1351355" cy="1351355"/>
          </a:xfrm>
          <a:custGeom>
            <a:avLst/>
            <a:gdLst/>
            <a:ahLst/>
            <a:cxnLst/>
            <a:rect l="l" t="t" r="r" b="b"/>
            <a:pathLst>
              <a:path w="1351355" h="1351355">
                <a:moveTo>
                  <a:pt x="0" y="0"/>
                </a:moveTo>
                <a:lnTo>
                  <a:pt x="1351355" y="0"/>
                </a:lnTo>
                <a:lnTo>
                  <a:pt x="1351355" y="1351355"/>
                </a:lnTo>
                <a:lnTo>
                  <a:pt x="0" y="1351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690114" y="1962512"/>
            <a:ext cx="1799958" cy="2322526"/>
          </a:xfrm>
          <a:custGeom>
            <a:avLst/>
            <a:gdLst/>
            <a:ahLst/>
            <a:cxnLst/>
            <a:rect l="l" t="t" r="r" b="b"/>
            <a:pathLst>
              <a:path w="1799958" h="2322526">
                <a:moveTo>
                  <a:pt x="0" y="0"/>
                </a:moveTo>
                <a:lnTo>
                  <a:pt x="1799958" y="0"/>
                </a:lnTo>
                <a:lnTo>
                  <a:pt x="1799958" y="2322526"/>
                </a:lnTo>
                <a:lnTo>
                  <a:pt x="0" y="2322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515067" y="3918112"/>
            <a:ext cx="1476878" cy="351989"/>
          </a:xfrm>
          <a:custGeom>
            <a:avLst/>
            <a:gdLst/>
            <a:ahLst/>
            <a:cxnLst/>
            <a:rect l="l" t="t" r="r" b="b"/>
            <a:pathLst>
              <a:path w="1476878" h="351989">
                <a:moveTo>
                  <a:pt x="0" y="0"/>
                </a:moveTo>
                <a:lnTo>
                  <a:pt x="1476878" y="0"/>
                </a:lnTo>
                <a:lnTo>
                  <a:pt x="1476878" y="351989"/>
                </a:lnTo>
                <a:lnTo>
                  <a:pt x="0" y="351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436282" y="1967793"/>
            <a:ext cx="7415437" cy="121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0"/>
              </a:lnSpc>
            </a:pPr>
            <a:r>
              <a:rPr lang="en-US" sz="80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RESEARCH GAP</a:t>
            </a:r>
            <a:endParaRPr lang="en-US" sz="80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263065" y="4851085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 dirty="0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Train a detector on Indian road data that </a:t>
            </a:r>
            <a:r>
              <a:rPr lang="en-US" sz="2700" b="1" dirty="0" err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recognises</a:t>
            </a:r>
            <a:r>
              <a:rPr lang="en-US" sz="2700" b="1" dirty="0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 auto-rickshaws and two-wheelers, classes absent from general-purpose models such as COCO.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30073" y="5411060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30073" y="6908095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63065" y="6339307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Human review exists only as retrospective manual labour, as Bengaluru shows, never as a scored, prioritised signal inside the pipeline.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30073" y="8392088"/>
            <a:ext cx="742738" cy="4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910">
                <a:solidFill>
                  <a:srgbClr val="16404D"/>
                </a:solidFill>
                <a:latin typeface="Sergio Trendy"/>
                <a:ea typeface="Sergio Trendy"/>
                <a:cs typeface="Sergio Trendy"/>
                <a:sym typeface="Sergio Trendy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63065" y="7823300"/>
            <a:ext cx="9399170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1" dirty="0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Admissibility never enters the CV pipeline. No published system carries an evidence-quality metric or chain-of-custody concept.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01815" y="-43695"/>
            <a:ext cx="10374390" cy="10374390"/>
          </a:xfrm>
          <a:custGeom>
            <a:avLst/>
            <a:gdLst/>
            <a:ahLst/>
            <a:cxnLst/>
            <a:rect l="l" t="t" r="r" b="b"/>
            <a:pathLst>
              <a:path w="10374390" h="10374390">
                <a:moveTo>
                  <a:pt x="0" y="0"/>
                </a:moveTo>
                <a:lnTo>
                  <a:pt x="10374390" y="0"/>
                </a:lnTo>
                <a:lnTo>
                  <a:pt x="10374390" y="10374390"/>
                </a:lnTo>
                <a:lnTo>
                  <a:pt x="0" y="1037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15425" y="-43695"/>
            <a:ext cx="10374390" cy="10374390"/>
          </a:xfrm>
          <a:custGeom>
            <a:avLst/>
            <a:gdLst/>
            <a:ahLst/>
            <a:cxnLst/>
            <a:rect l="l" t="t" r="r" b="b"/>
            <a:pathLst>
              <a:path w="10374390" h="10374390">
                <a:moveTo>
                  <a:pt x="0" y="0"/>
                </a:moveTo>
                <a:lnTo>
                  <a:pt x="10374390" y="0"/>
                </a:lnTo>
                <a:lnTo>
                  <a:pt x="10374390" y="10374390"/>
                </a:lnTo>
                <a:lnTo>
                  <a:pt x="0" y="1037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467088" y="973760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1116090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302620" y="1804691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2"/>
                </a:lnTo>
                <a:lnTo>
                  <a:pt x="0" y="316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179037" y="2121403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1"/>
                </a:lnTo>
                <a:lnTo>
                  <a:pt x="0" y="316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931870" y="1934138"/>
            <a:ext cx="247167" cy="316711"/>
          </a:xfrm>
          <a:custGeom>
            <a:avLst/>
            <a:gdLst/>
            <a:ahLst/>
            <a:cxnLst/>
            <a:rect l="l" t="t" r="r" b="b"/>
            <a:pathLst>
              <a:path w="247167" h="316711">
                <a:moveTo>
                  <a:pt x="0" y="0"/>
                </a:moveTo>
                <a:lnTo>
                  <a:pt x="247167" y="0"/>
                </a:lnTo>
                <a:lnTo>
                  <a:pt x="247167" y="316712"/>
                </a:lnTo>
                <a:lnTo>
                  <a:pt x="0" y="316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840959" y="2079136"/>
            <a:ext cx="1461661" cy="2318563"/>
          </a:xfrm>
          <a:custGeom>
            <a:avLst/>
            <a:gdLst/>
            <a:ahLst/>
            <a:cxnLst/>
            <a:rect l="l" t="t" r="r" b="b"/>
            <a:pathLst>
              <a:path w="1461661" h="2318563">
                <a:moveTo>
                  <a:pt x="0" y="0"/>
                </a:moveTo>
                <a:lnTo>
                  <a:pt x="1461661" y="0"/>
                </a:lnTo>
                <a:lnTo>
                  <a:pt x="1461661" y="2318563"/>
                </a:lnTo>
                <a:lnTo>
                  <a:pt x="0" y="23185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436282" y="2423421"/>
            <a:ext cx="7415437" cy="81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95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ADAPTIVE SIGNAL TIMING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86980" y="4851085"/>
            <a:ext cx="11771189" cy="379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2375"/>
              </a:lnSpc>
              <a:spcBef>
                <a:spcPts val="500"/>
              </a:spcBef>
              <a:buFont typeface="Arial"/>
              <a:buChar char="•"/>
            </a:pPr>
            <a:r>
              <a:rPr lang="en-US" sz="19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The same detection pass, a second output: enforcement punishes, timing prevents</a:t>
            </a:r>
          </a:p>
          <a:p>
            <a:pPr algn="l" marL="400000" indent="-300000">
              <a:lnSpc>
                <a:spcPts val="2375"/>
              </a:lnSpc>
              <a:spcBef>
                <a:spcPts val="500"/>
              </a:spcBef>
              <a:buFont typeface="Arial"/>
              <a:buChar char="•"/>
            </a:pPr>
            <a:r>
              <a:rPr lang="en-US" sz="19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Congestion measured per junction arm in PCU, not vehicle count - 40 motorcycles are not 40 buses [11]</a:t>
            </a:r>
          </a:p>
          <a:p>
            <a:pPr algn="l" marL="400000" indent="-300000">
              <a:lnSpc>
                <a:spcPts val="2375"/>
              </a:lnSpc>
              <a:spcBef>
                <a:spcPts val="500"/>
              </a:spcBef>
              <a:buFont typeface="Arial"/>
              <a:buChar char="•"/>
            </a:pPr>
            <a:r>
              <a:rPr lang="en-US" sz="19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Webster's method: C = (1.5L + 5) / (1 - Y). Arithmetic an engineer can check by hand [12]</a:t>
            </a:r>
          </a:p>
          <a:p>
            <a:pPr algn="l" marL="400000" indent="-300000">
              <a:lnSpc>
                <a:spcPts val="2375"/>
              </a:lnSpc>
              <a:spcBef>
                <a:spcPts val="500"/>
              </a:spcBef>
              <a:buFont typeface="Arial"/>
              <a:buChar char="•"/>
            </a:pPr>
            <a:r>
              <a:rPr lang="en-US" sz="19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Green follows the queue; a quiet arm still gets its pedestrian minimum every cycle</a:t>
            </a:r>
          </a:p>
          <a:p>
            <a:pPr algn="l" marL="400000" indent="-300000">
              <a:lnSpc>
                <a:spcPts val="2375"/>
              </a:lnSpc>
              <a:spcBef>
                <a:spcPts val="500"/>
              </a:spcBef>
              <a:buFont typeface="Arial"/>
              <a:buChar char="•"/>
            </a:pPr>
            <a:r>
              <a:rPr lang="en-US" sz="19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Past capacity it stops optimising, drains the longest queue, and says which mode it used</a:t>
            </a:r>
          </a:p>
          <a:p>
            <a:pPr algn="l" marL="400000" indent="-300000">
              <a:lnSpc>
                <a:spcPts val="2375"/>
              </a:lnSpc>
              <a:spcBef>
                <a:spcPts val="500"/>
              </a:spcBef>
              <a:buFont typeface="Arial"/>
              <a:buChar char="•"/>
            </a:pPr>
            <a:r>
              <a:rPr lang="en-US" sz="19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ADVISORY ONLY: it recommends a plan and actuates nothing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1677" y="1036390"/>
            <a:ext cx="7678469" cy="2300632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24208" y="1178720"/>
            <a:ext cx="7295118" cy="2081776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451939" y="1985011"/>
            <a:ext cx="703965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48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GREEN FOLLOWS THE QUEUE</a:t>
            </a:r>
            <a:endParaRPr lang="en-US" sz="4800">
              <a:solidFill>
                <a:srgbClr val="16404D"/>
              </a:solidFill>
              <a:latin typeface="Brice BoldCondensed"/>
              <a:ea typeface="Brice BoldCondensed"/>
              <a:cs typeface="Brice BoldCondense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255665" y="4209126"/>
            <a:ext cx="11771189" cy="379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400000" indent="-300000">
              <a:lnSpc>
                <a:spcPts val="2375"/>
              </a:lnSpc>
              <a:spcBef>
                <a:spcPts val="500"/>
              </a:spcBef>
              <a:buFont typeface="Arial"/>
              <a:buChar char="•"/>
            </a:pPr>
            <a:r>
              <a:rPr lang="en-US" sz="19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North-south holds 88% of the standing queue across four cycles</a:t>
            </a:r>
          </a:p>
          <a:p>
            <a:pPr algn="l" marL="400000" indent="-300000">
              <a:lnSpc>
                <a:spcPts val="2375"/>
              </a:lnSpc>
              <a:spcBef>
                <a:spcPts val="500"/>
              </a:spcBef>
              <a:buFont typeface="Arial"/>
              <a:buChar char="•"/>
            </a:pPr>
            <a:r>
              <a:rPr lang="en-US" sz="19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Recommended green moves 37s to 57s as the queue builds</a:t>
            </a:r>
          </a:p>
          <a:p>
            <a:pPr algn="l" marL="400000" indent="-300000">
              <a:lnSpc>
                <a:spcPts val="2375"/>
              </a:lnSpc>
              <a:spcBef>
                <a:spcPts val="500"/>
              </a:spcBef>
              <a:buFont typeface="Arial"/>
              <a:buChar char="•"/>
            </a:pPr>
            <a:r>
              <a:rPr lang="en-US" sz="19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East-west never drops below its 12s pedestrian minimum</a:t>
            </a:r>
          </a:p>
          <a:p>
            <a:pPr algn="l" marL="400000" indent="-300000">
              <a:lnSpc>
                <a:spcPts val="2375"/>
              </a:lnSpc>
              <a:spcBef>
                <a:spcPts val="500"/>
              </a:spcBef>
              <a:buFont typeface="Arial"/>
              <a:buChar char="•"/>
            </a:pPr>
            <a:r>
              <a:rPr lang="en-US" sz="19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Rate-limited to 10s per cycle, so the plan converges instead of lurching</a:t>
            </a:r>
          </a:p>
        </p:txBody>
      </p:sp>
      <p:pic>
        <p:nvPicPr>
          <p:cNvPr id="901" name="chart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000" y="5852160"/>
            <a:ext cx="10589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67088" y="425746"/>
            <a:ext cx="9353825" cy="3099166"/>
            <a:chOff x="0" y="0"/>
            <a:chExt cx="2946622" cy="9762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6622" cy="976293"/>
            </a:xfrm>
            <a:custGeom>
              <a:avLst/>
              <a:gdLst/>
              <a:ahLst/>
              <a:cxnLst/>
              <a:rect l="l" t="t" r="r" b="b"/>
              <a:pathLst>
                <a:path w="2946622" h="976293">
                  <a:moveTo>
                    <a:pt x="66214" y="0"/>
                  </a:moveTo>
                  <a:lnTo>
                    <a:pt x="2880408" y="0"/>
                  </a:lnTo>
                  <a:cubicBezTo>
                    <a:pt x="2916977" y="0"/>
                    <a:pt x="2946622" y="29645"/>
                    <a:pt x="2946622" y="66214"/>
                  </a:cubicBezTo>
                  <a:lnTo>
                    <a:pt x="2946622" y="910079"/>
                  </a:lnTo>
                  <a:cubicBezTo>
                    <a:pt x="2946622" y="946648"/>
                    <a:pt x="2916977" y="976293"/>
                    <a:pt x="2880408" y="976293"/>
                  </a:cubicBezTo>
                  <a:lnTo>
                    <a:pt x="66214" y="976293"/>
                  </a:lnTo>
                  <a:cubicBezTo>
                    <a:pt x="48653" y="976293"/>
                    <a:pt x="31811" y="969317"/>
                    <a:pt x="19394" y="956899"/>
                  </a:cubicBezTo>
                  <a:cubicBezTo>
                    <a:pt x="6976" y="944482"/>
                    <a:pt x="0" y="927640"/>
                    <a:pt x="0" y="910079"/>
                  </a:cubicBezTo>
                  <a:lnTo>
                    <a:pt x="0" y="66214"/>
                  </a:lnTo>
                  <a:cubicBezTo>
                    <a:pt x="0" y="29645"/>
                    <a:pt x="29645" y="0"/>
                    <a:pt x="66214" y="0"/>
                  </a:cubicBezTo>
                  <a:close/>
                </a:path>
              </a:pathLst>
            </a:custGeom>
            <a:ln w="66675" cap="rnd">
              <a:solidFill>
                <a:srgbClr val="78633F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46622" cy="1014393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97907" y="583734"/>
            <a:ext cx="8892186" cy="2802022"/>
            <a:chOff x="0" y="0"/>
            <a:chExt cx="2801197" cy="88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01197" cy="882687"/>
            </a:xfrm>
            <a:custGeom>
              <a:avLst/>
              <a:gdLst/>
              <a:ahLst/>
              <a:cxnLst/>
              <a:rect l="l" t="t" r="r" b="b"/>
              <a:pathLst>
                <a:path w="2801197" h="882687">
                  <a:moveTo>
                    <a:pt x="69651" y="0"/>
                  </a:moveTo>
                  <a:lnTo>
                    <a:pt x="2731546" y="0"/>
                  </a:lnTo>
                  <a:cubicBezTo>
                    <a:pt x="2770013" y="0"/>
                    <a:pt x="2801197" y="31184"/>
                    <a:pt x="2801197" y="69651"/>
                  </a:cubicBezTo>
                  <a:lnTo>
                    <a:pt x="2801197" y="813035"/>
                  </a:lnTo>
                  <a:cubicBezTo>
                    <a:pt x="2801197" y="831508"/>
                    <a:pt x="2793859" y="849224"/>
                    <a:pt x="2780797" y="862287"/>
                  </a:cubicBezTo>
                  <a:cubicBezTo>
                    <a:pt x="2767735" y="875349"/>
                    <a:pt x="2750019" y="882687"/>
                    <a:pt x="2731546" y="882687"/>
                  </a:cubicBezTo>
                  <a:lnTo>
                    <a:pt x="69651" y="882687"/>
                  </a:lnTo>
                  <a:cubicBezTo>
                    <a:pt x="51179" y="882687"/>
                    <a:pt x="33463" y="875349"/>
                    <a:pt x="20400" y="862287"/>
                  </a:cubicBezTo>
                  <a:cubicBezTo>
                    <a:pt x="7338" y="849224"/>
                    <a:pt x="0" y="831508"/>
                    <a:pt x="0" y="813035"/>
                  </a:cubicBezTo>
                  <a:lnTo>
                    <a:pt x="0" y="69651"/>
                  </a:lnTo>
                  <a:cubicBezTo>
                    <a:pt x="0" y="51179"/>
                    <a:pt x="7338" y="33463"/>
                    <a:pt x="20400" y="20400"/>
                  </a:cubicBezTo>
                  <a:cubicBezTo>
                    <a:pt x="33463" y="7338"/>
                    <a:pt x="51179" y="0"/>
                    <a:pt x="69651" y="0"/>
                  </a:cubicBezTo>
                  <a:close/>
                </a:path>
              </a:pathLst>
            </a:custGeom>
            <a:solidFill>
              <a:srgbClr val="FBF5DD"/>
            </a:solidFill>
            <a:ln w="38100" cap="rnd">
              <a:solidFill>
                <a:srgbClr val="78633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01197" cy="920787"/>
            </a:xfrm>
            <a:prstGeom prst="rect">
              <a:avLst/>
            </a:prstGeom>
          </p:spPr>
          <p:txBody>
            <a:bodyPr lIns="42472" tIns="42472" rIns="42472" bIns="4247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74348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2911171" y="-1652916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6051177" y="0"/>
                </a:moveTo>
                <a:lnTo>
                  <a:pt x="0" y="0"/>
                </a:lnTo>
                <a:lnTo>
                  <a:pt x="0" y="4114800"/>
                </a:lnTo>
                <a:lnTo>
                  <a:pt x="6051177" y="4114800"/>
                </a:lnTo>
                <a:lnTo>
                  <a:pt x="60511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75426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3296440" y="6259590"/>
            <a:ext cx="5166986" cy="4114800"/>
          </a:xfrm>
          <a:custGeom>
            <a:avLst/>
            <a:gdLst/>
            <a:ahLst/>
            <a:cxnLst/>
            <a:rect l="l" t="t" r="r" b="b"/>
            <a:pathLst>
              <a:path w="5166986" h="4114800">
                <a:moveTo>
                  <a:pt x="5166986" y="0"/>
                </a:moveTo>
                <a:lnTo>
                  <a:pt x="0" y="0"/>
                </a:lnTo>
                <a:lnTo>
                  <a:pt x="0" y="4114800"/>
                </a:lnTo>
                <a:lnTo>
                  <a:pt x="5166986" y="4114800"/>
                </a:lnTo>
                <a:lnTo>
                  <a:pt x="5166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041100" y="1664017"/>
            <a:ext cx="1567711" cy="1789114"/>
          </a:xfrm>
          <a:custGeom>
            <a:avLst/>
            <a:gdLst/>
            <a:ahLst/>
            <a:cxnLst/>
            <a:rect l="l" t="t" r="r" b="b"/>
            <a:pathLst>
              <a:path w="1567711" h="1789114">
                <a:moveTo>
                  <a:pt x="0" y="0"/>
                </a:moveTo>
                <a:lnTo>
                  <a:pt x="1567711" y="0"/>
                </a:lnTo>
                <a:lnTo>
                  <a:pt x="1567711" y="1789114"/>
                </a:lnTo>
                <a:lnTo>
                  <a:pt x="0" y="17891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98658" y="934396"/>
            <a:ext cx="8384631" cy="1270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0"/>
              </a:lnSpc>
            </a:pPr>
            <a:r>
              <a:rPr lang="en-US" sz="9500">
                <a:solidFill>
                  <a:srgbClr val="16404D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REFERENCES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800" y="2377440"/>
            <a:ext cx="8229600" cy="7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[1]  Kumar, S. et al. (2025). DriveIndia: An Object Detection Dataset for Diverse Indian Traffic Scenes. arXiv:2507.19912.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[2]  Ravish, R., Rangaswamy, S. et al. (2021). Intelligent Traffic Violation Detection. IEEE GCAT. doi:10.1109/GCAT52182.2021.9587520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[3]  Ren, Y. (2024). Intelligent Vehicle Violation Detection System Under Human-Computer Interaction and Computer Vision. Int. J. Computational Intelligence Systems 17:40. doi:10.1007/s44196-024-00427-6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[4]  Sharma, A. et al. (2026). BMD-45: A Large-Scale CCTV Vehicle Detection Dataset for Urban Traffic in Developing Cities. arXiv:2604.24419.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[5]  Rhead, M., Gurney, R., Ramalingam, S. &amp; Cohen, N. (2012). Accuracy of Automatic Number Plate Recognition (ANPR) and Real World UK Number Plate Problems. IEEE 46th Int. Carnahan Conf. doi:10.1109/CCST.2012.6393574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[6]  Wilson, C., Willis, C., Hendrikz, J.K., Le Brocque, R. &amp; Bellamy, N. (2010). Speed cameras for the prevention of road traffic injuries and deaths. Cochrane Database of Systematic Reviews, CD004607.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[7]  Hoye, A. (2015). Speed cameras, section control, and kangaroo jumps - a meta-analysis. Accident Analysis &amp; Prevention 73:200-208.</a:t>
            </a:r>
          </a:p>
        </p:txBody>
      </p:sp>
      <p:sp>
        <p:nvSpPr>
          <p:cNvPr id="960" name="TextBox 16b"/>
          <p:cNvSpPr txBox="1"/>
          <p:nvPr/>
        </p:nvSpPr>
        <p:spPr>
          <a:xfrm>
            <a:off x="9372600" y="2377440"/>
            <a:ext cx="8229600" cy="7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[8]  Ministry of Road Transport and Highways, Government of India. Road Accidents in India 2023.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[9]  Kerala Motor Vehicles Department / KELTRON. Safe Kerala AI Camera Project - reported enforcement figures, first year of operation.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[10] Bengaluru Traffic Police. Intelligent Traffic Management System - reported helmet-detection accuracy and manual revalidation practice.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[11] Indian Roads Congress. IRC:93 - Guidelines on Design and Installation of Road Traffic Signals (Passenger Car Unit equivalency factors).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[12] Webster, F.V. (1958). Traffic Signal Settings. Road Research Technical Paper No. 39, HMSO, London.</a:t>
            </a:r>
          </a:p>
          <a:p>
            <a:pPr algn="l" marL="380000" indent="-380000">
              <a:lnSpc>
                <a:spcPts val="1708"/>
              </a:lnSpc>
              <a:spcBef>
                <a:spcPts val="588"/>
              </a:spcBef>
            </a:pPr>
            <a:r>
              <a:rPr lang="en-US" sz="1400" b="1">
                <a:solidFill>
                  <a:srgbClr val="16404D"/>
                </a:solidFill>
                <a:latin typeface="Ruda Bold"/>
                <a:ea typeface="Ruda Bold"/>
                <a:cs typeface="Ruda Bold"/>
                <a:sym typeface="Ruda Bold"/>
              </a:rPr>
              <a:t>[13] Indian Evidence Act 1872, s.65B; Bharatiya Sakshya Adhiniyam 2023, s.63 - admissibility of electronic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Green Organic Project Performance Review Presentation</dc:title>
  <cp:revision>76</cp:revision>
  <dcterms:created xsi:type="dcterms:W3CDTF">2006-08-16T00:00:00Z</dcterms:created>
  <dcterms:modified xsi:type="dcterms:W3CDTF">2026-08-26T14:40:20Z</dcterms:modified>
  <dc:identifier>DAHTYuzsoxY</dc:identifier>
</cp:coreProperties>
</file>